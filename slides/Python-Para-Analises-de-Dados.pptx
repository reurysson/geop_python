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4630400" cy="8229600"/>
  <p:notesSz cx="8229600" cy="14630400"/>
  <p:embeddedFontLst>
    <p:embeddedFont>
      <p:font typeface="Tomorrow" panose="020B0604020202020204" charset="0"/>
      <p:regular r:id="rId23"/>
    </p:embeddedFont>
    <p:embeddedFont>
      <p:font typeface="Tomorrow Semi Bold" panose="020B0604020202020204" charset="0"/>
      <p:regular r:id="rId2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619F50-84AA-416D-AB6F-F6F141F37FE5}" v="9" dt="2025-03-21T16:10:53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85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urysson Chagas de Sousa Morais" userId="2c7093aa27a5f355" providerId="LiveId" clId="{92619F50-84AA-416D-AB6F-F6F141F37FE5}"/>
    <pc:docChg chg="undo custSel addSld delSld modSld sldOrd">
      <pc:chgData name="Reurysson Chagas de Sousa Morais" userId="2c7093aa27a5f355" providerId="LiveId" clId="{92619F50-84AA-416D-AB6F-F6F141F37FE5}" dt="2025-03-21T16:10:53.134" v="148" actId="1076"/>
      <pc:docMkLst>
        <pc:docMk/>
      </pc:docMkLst>
      <pc:sldChg chg="modSp mod">
        <pc:chgData name="Reurysson Chagas de Sousa Morais" userId="2c7093aa27a5f355" providerId="LiveId" clId="{92619F50-84AA-416D-AB6F-F6F141F37FE5}" dt="2025-03-21T15:32:15.418" v="2" actId="20577"/>
        <pc:sldMkLst>
          <pc:docMk/>
          <pc:sldMk cId="0" sldId="256"/>
        </pc:sldMkLst>
        <pc:spChg chg="mod">
          <ac:chgData name="Reurysson Chagas de Sousa Morais" userId="2c7093aa27a5f355" providerId="LiveId" clId="{92619F50-84AA-416D-AB6F-F6F141F37FE5}" dt="2025-03-21T15:32:15.418" v="2" actId="20577"/>
          <ac:spMkLst>
            <pc:docMk/>
            <pc:sldMk cId="0" sldId="256"/>
            <ac:spMk id="8" creationId="{00000000-0000-0000-0000-000000000000}"/>
          </ac:spMkLst>
        </pc:spChg>
      </pc:sldChg>
      <pc:sldChg chg="new del">
        <pc:chgData name="Reurysson Chagas de Sousa Morais" userId="2c7093aa27a5f355" providerId="LiveId" clId="{92619F50-84AA-416D-AB6F-F6F141F37FE5}" dt="2025-03-21T15:43:26.292" v="119" actId="47"/>
        <pc:sldMkLst>
          <pc:docMk/>
          <pc:sldMk cId="2751402291" sldId="274"/>
        </pc:sldMkLst>
      </pc:sldChg>
      <pc:sldChg chg="addSp delSp modSp add mod ord">
        <pc:chgData name="Reurysson Chagas de Sousa Morais" userId="2c7093aa27a5f355" providerId="LiveId" clId="{92619F50-84AA-416D-AB6F-F6F141F37FE5}" dt="2025-03-21T15:43:12.463" v="118" actId="1076"/>
        <pc:sldMkLst>
          <pc:docMk/>
          <pc:sldMk cId="3065310331" sldId="275"/>
        </pc:sldMkLst>
        <pc:spChg chg="mod">
          <ac:chgData name="Reurysson Chagas de Sousa Morais" userId="2c7093aa27a5f355" providerId="LiveId" clId="{92619F50-84AA-416D-AB6F-F6F141F37FE5}" dt="2025-03-21T15:34:08.544" v="41" actId="20577"/>
          <ac:spMkLst>
            <pc:docMk/>
            <pc:sldMk cId="3065310331" sldId="275"/>
            <ac:spMk id="2" creationId="{B683E06D-26AF-48D8-FFDC-3BBCFF2E2950}"/>
          </ac:spMkLst>
        </pc:spChg>
        <pc:spChg chg="mod">
          <ac:chgData name="Reurysson Chagas de Sousa Morais" userId="2c7093aa27a5f355" providerId="LiveId" clId="{92619F50-84AA-416D-AB6F-F6F141F37FE5}" dt="2025-03-21T15:35:53.108" v="103" actId="14100"/>
          <ac:spMkLst>
            <pc:docMk/>
            <pc:sldMk cId="3065310331" sldId="275"/>
            <ac:spMk id="3" creationId="{89386E96-9096-771F-A482-9DFD5A38D9DE}"/>
          </ac:spMkLst>
        </pc:spChg>
        <pc:spChg chg="add mod">
          <ac:chgData name="Reurysson Chagas de Sousa Morais" userId="2c7093aa27a5f355" providerId="LiveId" clId="{92619F50-84AA-416D-AB6F-F6F141F37FE5}" dt="2025-03-21T15:35:59.789" v="105" actId="1076"/>
          <ac:spMkLst>
            <pc:docMk/>
            <pc:sldMk cId="3065310331" sldId="275"/>
            <ac:spMk id="6" creationId="{E29F9AB6-18A8-D609-50AE-803FD4BD4744}"/>
          </ac:spMkLst>
        </pc:spChg>
        <pc:picChg chg="del">
          <ac:chgData name="Reurysson Chagas de Sousa Morais" userId="2c7093aa27a5f355" providerId="LiveId" clId="{92619F50-84AA-416D-AB6F-F6F141F37FE5}" dt="2025-03-21T15:33:18.634" v="7" actId="478"/>
          <ac:picMkLst>
            <pc:docMk/>
            <pc:sldMk cId="3065310331" sldId="275"/>
            <ac:picMk id="5" creationId="{0A629001-454D-2E02-2760-FDC36C3119D7}"/>
          </ac:picMkLst>
        </pc:picChg>
        <pc:picChg chg="add mod">
          <ac:chgData name="Reurysson Chagas de Sousa Morais" userId="2c7093aa27a5f355" providerId="LiveId" clId="{92619F50-84AA-416D-AB6F-F6F141F37FE5}" dt="2025-03-21T15:43:09.195" v="117" actId="1076"/>
          <ac:picMkLst>
            <pc:docMk/>
            <pc:sldMk cId="3065310331" sldId="275"/>
            <ac:picMk id="8" creationId="{68DDD16B-1837-AF6D-8821-EC9735998E0B}"/>
          </ac:picMkLst>
        </pc:picChg>
        <pc:picChg chg="add mod">
          <ac:chgData name="Reurysson Chagas de Sousa Morais" userId="2c7093aa27a5f355" providerId="LiveId" clId="{92619F50-84AA-416D-AB6F-F6F141F37FE5}" dt="2025-03-21T15:43:12.463" v="118" actId="1076"/>
          <ac:picMkLst>
            <pc:docMk/>
            <pc:sldMk cId="3065310331" sldId="275"/>
            <ac:picMk id="10" creationId="{340C8378-DDB7-AB09-7827-281E1C1E2967}"/>
          </ac:picMkLst>
        </pc:picChg>
      </pc:sldChg>
      <pc:sldChg chg="addSp modSp new mod">
        <pc:chgData name="Reurysson Chagas de Sousa Morais" userId="2c7093aa27a5f355" providerId="LiveId" clId="{92619F50-84AA-416D-AB6F-F6F141F37FE5}" dt="2025-03-21T16:10:53.134" v="148" actId="1076"/>
        <pc:sldMkLst>
          <pc:docMk/>
          <pc:sldMk cId="3229945726" sldId="276"/>
        </pc:sldMkLst>
        <pc:spChg chg="add mod">
          <ac:chgData name="Reurysson Chagas de Sousa Morais" userId="2c7093aa27a5f355" providerId="LiveId" clId="{92619F50-84AA-416D-AB6F-F6F141F37FE5}" dt="2025-03-21T16:10:36.030" v="146" actId="207"/>
          <ac:spMkLst>
            <pc:docMk/>
            <pc:sldMk cId="3229945726" sldId="276"/>
            <ac:spMk id="2" creationId="{E0DD81BE-9C5E-5093-BED7-4C1308B1D75A}"/>
          </ac:spMkLst>
        </pc:spChg>
        <pc:picChg chg="add mod">
          <ac:chgData name="Reurysson Chagas de Sousa Morais" userId="2c7093aa27a5f355" providerId="LiveId" clId="{92619F50-84AA-416D-AB6F-F6F141F37FE5}" dt="2025-03-21T16:10:53.134" v="148" actId="1076"/>
          <ac:picMkLst>
            <pc:docMk/>
            <pc:sldMk cId="3229945726" sldId="276"/>
            <ac:picMk id="1026" creationId="{CA225759-BEAC-E2D1-C950-537A203EEFA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88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EBF7-8C56-EDEC-0AA8-40989947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805C3-1D6A-4F7F-8855-ECF948696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534CB-A523-09A8-E94E-BB13E8D79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54F14-CCFA-54D3-8091-1B0823E95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05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cnoblog.net/especiais/o-python-e-muito-util-mas-pode-nao-ser-a-linguagem-de-programacao-do-futuro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urysson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s://osf.io/8j6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607" y="2591872"/>
            <a:ext cx="4919186" cy="30458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1840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Python Para Análises de Dados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94180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Esta apresentação oferece uma visão geral de Python para análise de dados. Exploraremos o que é Python e por que ele é ideal para essa finalidade. Também abordaremos as principais bibliotecas e como começar a usar Python em seus projetos.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93790" y="566547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10" y="5673090"/>
            <a:ext cx="347663" cy="3476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0040" y="5648563"/>
            <a:ext cx="3861792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9C9C0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Prof. Reurysson Morais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0902"/>
            <a:ext cx="85902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 Criador - Guido van Rossum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04993"/>
            <a:ext cx="2432090" cy="1945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005745"/>
            <a:ext cx="24376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792498" y="2753916"/>
            <a:ext cx="100516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Python, uma das linguagens de programação mais populares do mundo atualmente.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792498" y="3320891"/>
            <a:ext cx="1005161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Criada por Guido van Rossum, em meados de 1989, a liguagem Python foi concebida para ser uma linguagem de programação simples e legível, com uma ênfase na legibilidade e produtividade.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792498" y="4613672"/>
            <a:ext cx="100516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Sua primeira versão, a 0.9.0 foi lançada em fevereiro de 1991.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792498" y="5180647"/>
            <a:ext cx="100516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Atualmente, possui um modelo de desenvolvimento comunitário, aberto e gerenciado pela organização sem fins lucrativos Python Software.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3656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792718"/>
            <a:ext cx="4419600" cy="1249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454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 "criatura"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9442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Embora sua logo remeta a serpente python, a oriegem de seu none está ligada ao grupoo humorístico britânico Monty Python, criador do programa Monty Python's Flying Circus,Python.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87537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Guido van Rossum era fã do humor do grupo e decidiu escolher um nome que fosse curto, único e um pouco divertido, refletindo o espírito leve e acessível que ele queria para sua linguagem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8563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8681"/>
            <a:ext cx="130428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Parte dá popularidade do Python se deve aos seus princípios orientadores criados por Tim Peters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253210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Bonito é melhor que feio.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293024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Explícito é melhor que implícito.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332839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Simples é melhor que complexo.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372653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Complexo é melhor que complicado.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790" y="412468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Linear é melhor do que aninhado.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790" y="452282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Esparso é melhor que denso.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90" y="492097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Legibilidade conta.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3790" y="5319117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Casos especiais não são especiais o bastante para quebrar as regras.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3790" y="6043970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Ainda que praticidade vença a pureza.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3790" y="6442115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Erros nunca devem passar silenciosamente.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790" y="6840260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menos que sejam explicitamente silenciados.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71780" y="253210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Diante da ambiguidade, recuse a tentação de adivinhar.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71780" y="2930247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Dever haver um — e preferencialmente apenas um — modo óbvio para fazer algo.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71780" y="3655100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Embora esse modo possa não ser óbvio a princípio a menos que você seja holandês.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1780" y="4379952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Agora é melhor que nunca.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71780" y="4778097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Apesar de que nunca normalmente é melhor do que </a:t>
            </a:r>
            <a:r>
              <a:rPr lang="en-US" sz="1600" i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exatamente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agora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71780" y="5502950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 a implementação é difícil de explicar, é uma má ideia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71780" y="5901095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 a implementação é fácil de explicar, pode ser uma boa ideia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1780" y="6625947"/>
            <a:ext cx="627245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Namespaces são uma grande ideia — vamos ter mais dessas!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ython, JavaScript, Java, C#, R e C++ no Stack Overflow">
            <a:extLst>
              <a:ext uri="{FF2B5EF4-FFF2-40B4-BE49-F238E27FC236}">
                <a16:creationId xmlns:a16="http://schemas.microsoft.com/office/drawing/2014/main" id="{CA225759-BEAC-E2D1-C950-537A203EE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545" y="1092296"/>
            <a:ext cx="9088947" cy="604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0DD81BE-9C5E-5093-BED7-4C1308B1D75A}"/>
              </a:ext>
            </a:extLst>
          </p:cNvPr>
          <p:cNvSpPr txBox="1"/>
          <p:nvPr/>
        </p:nvSpPr>
        <p:spPr>
          <a:xfrm>
            <a:off x="267629" y="7850459"/>
            <a:ext cx="1263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Fonte: </a:t>
            </a:r>
            <a:r>
              <a:rPr lang="pt-BR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Aqui</a:t>
            </a:r>
            <a:endParaRPr lang="pt-BR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94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3054"/>
            <a:ext cx="13047107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Python é uma liguagem e programação, mas o que isso significa?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1647" y="2395776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Liguagens formais e naturais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1647" y="2981325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Naturais - são os idiomas que as pessoas falam. Não foram idealizadas pelas pessoas, desenvolveram-se naturalmente.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1647" y="3400306"/>
            <a:ext cx="13047107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Formais - São criadas para aplicações específicas e seguem regras bem definidas, utilizadas em áreas como matemática, programação e ciência.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1647" y="4163139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Tem regas de sintaxe estritas que governam a estrutura de declarações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91647" y="4582120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Ex: 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1647" y="5001101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 + 1 = 2 (Correto)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91647" y="5420082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 + l = ? (Errado)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1647" y="5839063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 regras de sintaxe vêm de duas categorias relativas a SÍMBOLO e ESTRUTURA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91647" y="6258044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Simbolos são elementos básicos da linguagem (números, letras, palavras, operadores)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91647" y="6677025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028700" lvl="2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Estrutura: define como os símbolos devem ser organizados para formar expressões válidas.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91647" y="7262574"/>
            <a:ext cx="13047107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1223129"/>
            <a:ext cx="93852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Diferenças entre as linguagens formais e naturais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451390" y="2980849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Ambiguidade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451390" y="3423047"/>
            <a:ext cx="93852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liguagens naturais são ambíguas. A compreensão às vezes depende do contexto. Já as formais são ineduívocas.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451390" y="4228148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redundância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451390" y="4670346"/>
            <a:ext cx="93852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para compensar a ambiguidade, as linguagens naturais são redundantes, verborrágicas. As naturais são consisas.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451390" y="5475446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literalidade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451390" y="5917644"/>
            <a:ext cx="93852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 formais são literais, têm significado exatamente iguais ao que expressam, diferentemente das natuais onde uma expresão tem significa diferente do que expressa (e.g. "A fica caiu").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721"/>
            <a:ext cx="112431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Por que Python para Análise de Dados?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71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Simplicidade e Legibilidade Sintaxe clara e intuitiva, ideal para iniciantes e especialistas.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1793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Código fácil de escrever, entender e manter.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2152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Bibliotecas Poderosas Acesso a bibliotecas populares como Pandas (manipulação de dados), NumPy (computação numérica) e Matplotlib/Seaborn (visualização).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266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Comunidade Ativa Grande suporte de uma comunidade global, com fóruns, tutoriais e soluções rápidas.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688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Versatilidade Pode ser usado para pré-processamento de dados, aprendizado de máquina e visualização em um único ambiente.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739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Integração com Outros Sistemas Fácil integração com bancos de dados, ferramentas de BI e linguagens como SQL.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919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Linguagem interpretada de alto nível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6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Tipo de linguagem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070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Python é uma liguagem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4250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Interpretada 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- O código-fonte é executado linha por linha por um interpretador durante o tempo de execução, o que pode ser mais lento, mas permite maior flexibilidade e facilidade para depurar. 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060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Alto níve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l: Mais focada em simplicidade e legibilidade, afastando-se de detalhes do hardware.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240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Dinâmicamente tipada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Não é necessário declarar tipos, e as variáveis podem mudar de tipo em tempo de execução.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4212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Orientada a Objetos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segue o paradigma da programação orientada a objetos, no qual os conceitos e a estrutura do código são organizados em torno de objetos.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2308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Desempenho moderado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Não é tão rápido quanto as liguagem compiladas (e.g. C, C++), mas compensa em produtividade.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6040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Fácil de aprender e usar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Projetada para ser intuitiva, com uma sintaxe limpa.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72220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Uso típico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Desenvolvimento web, geoprocessamento, ciência de dados, automação, inteligência artificial, entre outros.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34553"/>
            <a:ext cx="72965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Mas quais tipo de Dados?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83493"/>
            <a:ext cx="2913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Dados Estruturados 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8779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Dados tabulares ou do tipo planilha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960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Arrays multidimensionais (matrizes)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11409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Tabelas inter-relacionadas (banco de dados relacional)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321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Séries temporais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0458"/>
            <a:ext cx="6152555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Bibliotecas Essenciais do Python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793790" y="1658183"/>
            <a:ext cx="331708" cy="331708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94" y="1685865"/>
            <a:ext cx="221099" cy="2763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2897" y="165818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NumPy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272897" y="1976914"/>
            <a:ext cx="7077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Computação numérica eficiente.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93790" y="2525911"/>
            <a:ext cx="331708" cy="331708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94" y="2553593"/>
            <a:ext cx="221099" cy="2763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2897" y="252591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Pandas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272897" y="2844641"/>
            <a:ext cx="7077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Manipulação de dados tabulares.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793790" y="3393638"/>
            <a:ext cx="331708" cy="331708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94" y="3421320"/>
            <a:ext cx="221099" cy="2763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2897" y="339363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SciPy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272897" y="3712369"/>
            <a:ext cx="7077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Processamento Científico (matemática e estatística)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793790" y="4261366"/>
            <a:ext cx="331708" cy="331708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094" y="4289048"/>
            <a:ext cx="221099" cy="2763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72897" y="426136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Matplotlib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1272897" y="4580096"/>
            <a:ext cx="7077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Criação de visualizações.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793790" y="5129093"/>
            <a:ext cx="331708" cy="331708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094" y="5156775"/>
            <a:ext cx="221099" cy="2763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72897" y="512909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Seaborn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1272897" y="5447824"/>
            <a:ext cx="7077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Visualizações estatísticas avançadas.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793790" y="5996821"/>
            <a:ext cx="331708" cy="331708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094" y="6024503"/>
            <a:ext cx="221099" cy="2763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272897" y="599682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1272897" y="6315551"/>
            <a:ext cx="7077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Aprendizado de Máquina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793790" y="6864548"/>
            <a:ext cx="331708" cy="331708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094" y="6892230"/>
            <a:ext cx="221099" cy="2763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272897" y="686454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Statsmodels</a:t>
            </a:r>
            <a:endParaRPr lang="en-US" sz="1450" dirty="0"/>
          </a:p>
        </p:txBody>
      </p:sp>
      <p:sp>
        <p:nvSpPr>
          <p:cNvPr id="31" name="Text 21"/>
          <p:cNvSpPr/>
          <p:nvPr/>
        </p:nvSpPr>
        <p:spPr>
          <a:xfrm>
            <a:off x="1272897" y="7183279"/>
            <a:ext cx="7077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Modelagem Estatística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11298"/>
            <a:ext cx="7331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NumPy: A Base Numérica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60238"/>
            <a:ext cx="3664863" cy="2024182"/>
          </a:xfrm>
          <a:prstGeom prst="roundRect">
            <a:avLst>
              <a:gd name="adj" fmla="val 1681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020604" y="3087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Arrays NumPy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577471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Estruturas eficientes para dados numéricos.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60238"/>
            <a:ext cx="3664863" cy="2024182"/>
          </a:xfrm>
          <a:prstGeom prst="roundRect">
            <a:avLst>
              <a:gd name="adj" fmla="val 1681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912281" y="3087053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Operações Vetorizadas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931801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Aplicações rápidas e concisas.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11234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20604" y="5338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Broadcasting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82846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Operações entre arrays de tamanhos diferentes.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18542"/>
            <a:ext cx="68439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Pandas: DataFrames em Ação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484263" y="1557695"/>
            <a:ext cx="22860" cy="5953244"/>
          </a:xfrm>
          <a:prstGeom prst="roundRect">
            <a:avLst>
              <a:gd name="adj" fmla="val 119070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6665535" y="1954411"/>
            <a:ext cx="544354" cy="22860"/>
          </a:xfrm>
          <a:prstGeom prst="roundRect">
            <a:avLst>
              <a:gd name="adj" fmla="val 119070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6280130" y="1761768"/>
            <a:ext cx="408265" cy="40826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15" y="1795760"/>
            <a:ext cx="272177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91638" y="173914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DataFrames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391638" y="2131457"/>
            <a:ext cx="64449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Estruturas com linhas e colunas.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665535" y="3181350"/>
            <a:ext cx="544354" cy="22860"/>
          </a:xfrm>
          <a:prstGeom prst="roundRect">
            <a:avLst>
              <a:gd name="adj" fmla="val 119070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6280130" y="2988707"/>
            <a:ext cx="408265" cy="40826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115" y="3022699"/>
            <a:ext cx="272177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91638" y="296608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Leitura de Dados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391638" y="3358396"/>
            <a:ext cx="64449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Importe de CSV, Excel, etc.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665535" y="4408289"/>
            <a:ext cx="544354" cy="22860"/>
          </a:xfrm>
          <a:prstGeom prst="roundRect">
            <a:avLst>
              <a:gd name="adj" fmla="val 119070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6280130" y="4215646"/>
            <a:ext cx="408265" cy="40826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115" y="4249638"/>
            <a:ext cx="272177" cy="3401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91638" y="419302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Limpeza de Dados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391638" y="4585335"/>
            <a:ext cx="64449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Tratamento de valores ausentes.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665535" y="5635228"/>
            <a:ext cx="544354" cy="22860"/>
          </a:xfrm>
          <a:prstGeom prst="roundRect">
            <a:avLst>
              <a:gd name="adj" fmla="val 119070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6280130" y="5442585"/>
            <a:ext cx="408265" cy="40826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8115" y="5476577"/>
            <a:ext cx="272177" cy="3401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91638" y="541996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Agrupamento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7391638" y="5812274"/>
            <a:ext cx="64449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Cálculo de estatísticas por grupo.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665535" y="6862167"/>
            <a:ext cx="544354" cy="22860"/>
          </a:xfrm>
          <a:prstGeom prst="roundRect">
            <a:avLst>
              <a:gd name="adj" fmla="val 119070"/>
            </a:avLst>
          </a:prstGeom>
          <a:solidFill>
            <a:srgbClr val="5555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19"/>
          <p:cNvSpPr/>
          <p:nvPr/>
        </p:nvSpPr>
        <p:spPr>
          <a:xfrm>
            <a:off x="6280130" y="6669524"/>
            <a:ext cx="408265" cy="408265"/>
          </a:xfrm>
          <a:prstGeom prst="roundRect">
            <a:avLst>
              <a:gd name="adj" fmla="val 6667"/>
            </a:avLst>
          </a:prstGeom>
          <a:solidFill>
            <a:srgbClr val="3C3C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0"/>
          <p:cNvSpPr/>
          <p:nvPr/>
        </p:nvSpPr>
        <p:spPr>
          <a:xfrm>
            <a:off x="6348115" y="670351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7391638" y="6646902"/>
            <a:ext cx="319718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Análise Estatísticas Básicas</a:t>
            </a:r>
            <a:endParaRPr lang="en-US" sz="1750" dirty="0"/>
          </a:p>
        </p:txBody>
      </p:sp>
      <p:sp>
        <p:nvSpPr>
          <p:cNvPr id="29" name="Text 22"/>
          <p:cNvSpPr/>
          <p:nvPr/>
        </p:nvSpPr>
        <p:spPr>
          <a:xfrm>
            <a:off x="7391638" y="7039213"/>
            <a:ext cx="64449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Análises descritivas apoiadas por recursos gráficos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519" y="2208848"/>
            <a:ext cx="6776442" cy="38117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694015"/>
            <a:ext cx="57276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Visualização Com Matplotlib</a:t>
            </a:r>
            <a:endParaRPr lang="en-US" sz="42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363986"/>
            <a:ext cx="1077397" cy="12929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194322" y="25793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Matplotlib</a:t>
            </a:r>
            <a:endParaRPr lang="en-US" sz="2100" dirty="0"/>
          </a:p>
        </p:txBody>
      </p:sp>
      <p:sp>
        <p:nvSpPr>
          <p:cNvPr id="7" name="Text 2"/>
          <p:cNvSpPr/>
          <p:nvPr/>
        </p:nvSpPr>
        <p:spPr>
          <a:xfrm>
            <a:off x="2194322" y="3045143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Criação de gráficos personalizados.</a:t>
            </a:r>
            <a:endParaRPr lang="en-US" sz="16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3656886"/>
            <a:ext cx="1077397" cy="12929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94322" y="38722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Seaborn</a:t>
            </a:r>
            <a:endParaRPr lang="en-US" sz="2100" dirty="0"/>
          </a:p>
        </p:txBody>
      </p:sp>
      <p:sp>
        <p:nvSpPr>
          <p:cNvPr id="10" name="Text 4"/>
          <p:cNvSpPr/>
          <p:nvPr/>
        </p:nvSpPr>
        <p:spPr>
          <a:xfrm>
            <a:off x="2194322" y="4338042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Estilos pré-definidos e estatísticas.</a:t>
            </a:r>
            <a:endParaRPr lang="en-US" sz="16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949785"/>
            <a:ext cx="1077397" cy="12929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194322" y="51651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Escolha do Gráfico</a:t>
            </a:r>
            <a:endParaRPr lang="en-US" sz="2100" dirty="0"/>
          </a:p>
        </p:txBody>
      </p:sp>
      <p:sp>
        <p:nvSpPr>
          <p:cNvPr id="13" name="Text 6"/>
          <p:cNvSpPr/>
          <p:nvPr/>
        </p:nvSpPr>
        <p:spPr>
          <a:xfrm>
            <a:off x="2194322" y="5630942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Linha, dispersão, barras, etc.</a:t>
            </a:r>
            <a:endParaRPr lang="en-US" sz="16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90" y="6242685"/>
            <a:ext cx="1077397" cy="129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194322" y="645806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Personalização</a:t>
            </a:r>
            <a:endParaRPr lang="en-US" sz="2100" dirty="0"/>
          </a:p>
        </p:txBody>
      </p:sp>
      <p:sp>
        <p:nvSpPr>
          <p:cNvPr id="16" name="Text 8"/>
          <p:cNvSpPr/>
          <p:nvPr/>
        </p:nvSpPr>
        <p:spPr>
          <a:xfrm>
            <a:off x="2194322" y="6923842"/>
            <a:ext cx="43270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Títulos, rótulos, cores e legendas.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989"/>
            <a:ext cx="783574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Download do Python  - python.org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11141"/>
            <a:ext cx="10434161" cy="5552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267337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1656"/>
            <a:ext cx="106756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Executando o Python no computador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840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 Prompt do Comando digite "python". Pronto! Já pode começar a usar!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871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36068"/>
            <a:ext cx="13042821" cy="16717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4539"/>
            <a:ext cx="116724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Usando o interpretador Python - IPython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86946"/>
            <a:ext cx="13042821" cy="24000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8421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7951" y="2742486"/>
            <a:ext cx="3147179" cy="27446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19376"/>
            <a:ext cx="93852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Ambientes Integrados de Desenvolvimento - IDEs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793790" y="2301359"/>
            <a:ext cx="93852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Ferramentas que combinam editor de código, depurador e outros recursos para desenvolvimento eficiente.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3790" y="3026212"/>
            <a:ext cx="93852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Projetadas para facilitar a codificação, depuração e execução de projetos.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93790" y="3659029"/>
            <a:ext cx="371760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IDEs Populares para Python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93790" y="4283988"/>
            <a:ext cx="93852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PyCharm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Suporte avançado para grandes projetos, recursos de análise de código e ferramentas de depuração.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93790" y="5008840"/>
            <a:ext cx="93852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Visual Studio Code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Flexível e leve, com extensões como Python para um ambiente altamente personalizável.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93790" y="5733693"/>
            <a:ext cx="93852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FFA44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Jupyter Notebook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Excelente para ciência de dados, oferecendo integração com gráficos e células interativas.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93790" y="6458545"/>
            <a:ext cx="93852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Goolge Colab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 Plataforma baseada em nuvem, ideal para executar código sem instalação local, com recursos integrados para aprendizado de máquina e compartilhamento.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93790" y="7183398"/>
            <a:ext cx="93852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Spyder</a:t>
            </a: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: Ideal para computação científica, com foco em ferramentas como NumPy e Pandas.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14005"/>
            <a:ext cx="362878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Jupyter Lab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6" y="1357908"/>
            <a:ext cx="8493681" cy="5966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526" y="7487603"/>
            <a:ext cx="1306734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FEE9-79B4-231D-35C6-983DA6BF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83E06D-26AF-48D8-FFDC-3BBCFF2E2950}"/>
              </a:ext>
            </a:extLst>
          </p:cNvPr>
          <p:cNvSpPr/>
          <p:nvPr/>
        </p:nvSpPr>
        <p:spPr>
          <a:xfrm>
            <a:off x="793790" y="1821656"/>
            <a:ext cx="106756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Recursos</a:t>
            </a: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da </a:t>
            </a:r>
            <a:r>
              <a:rPr lang="en-US" sz="4450" dirty="0" err="1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Disciplina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386E96-9096-771F-A482-9DFD5A38D9DE}"/>
              </a:ext>
            </a:extLst>
          </p:cNvPr>
          <p:cNvSpPr/>
          <p:nvPr/>
        </p:nvSpPr>
        <p:spPr>
          <a:xfrm>
            <a:off x="793791" y="2984063"/>
            <a:ext cx="42019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Github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- 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  <a:hlinkClick r:id="rId3"/>
              </a:rPr>
              <a:t>https://github.com/reurysson</a:t>
            </a:r>
            <a:endParaRPr lang="en-US" sz="1750" dirty="0">
              <a:solidFill>
                <a:srgbClr val="C9C9C0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</a:rPr>
              <a:t>x</a:t>
            </a:r>
            <a:endParaRPr lang="en-US" sz="1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75A78C-15A1-1DF5-993B-FC3FF7165656}"/>
              </a:ext>
            </a:extLst>
          </p:cNvPr>
          <p:cNvSpPr/>
          <p:nvPr/>
        </p:nvSpPr>
        <p:spPr>
          <a:xfrm>
            <a:off x="793790" y="36871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endParaRPr lang="en-US" sz="4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29F9AB6-18A8-D609-50AE-803FD4BD4744}"/>
              </a:ext>
            </a:extLst>
          </p:cNvPr>
          <p:cNvSpPr/>
          <p:nvPr/>
        </p:nvSpPr>
        <p:spPr>
          <a:xfrm>
            <a:off x="8075536" y="3007425"/>
            <a:ext cx="52278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 Science Framework - 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  <a:hlinkClick r:id="rId4"/>
              </a:rPr>
              <a:t>https://osf.io/8j6ng/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</a:rPr>
              <a:t>x</a:t>
            </a:r>
            <a:endParaRPr lang="en-US" sz="175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8DDD16B-1837-AF6D-8821-EC9735998E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6022" y="3687128"/>
            <a:ext cx="4999263" cy="315592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40C8378-DDB7-AB09-7827-281E1C1E2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07" y="3899875"/>
            <a:ext cx="6266697" cy="306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31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1285</Words>
  <Application>Microsoft Office PowerPoint</Application>
  <PresentationFormat>Personalizar</PresentationFormat>
  <Paragraphs>156</Paragraphs>
  <Slides>20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Tomorrow</vt:lpstr>
      <vt:lpstr>Tomorrow Semi Bold</vt:lpstr>
      <vt:lpstr>Tomorrow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Reurysson Chagas de Sousa Morais</cp:lastModifiedBy>
  <cp:revision>1</cp:revision>
  <dcterms:created xsi:type="dcterms:W3CDTF">2025-03-21T14:50:36Z</dcterms:created>
  <dcterms:modified xsi:type="dcterms:W3CDTF">2025-03-21T16:11:03Z</dcterms:modified>
</cp:coreProperties>
</file>