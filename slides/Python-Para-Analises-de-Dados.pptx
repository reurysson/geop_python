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0"/>
  </p:sldIdLst>
  <p:sldSz cx="14630400" cy="8229600"/>
  <p:notesSz cx="8229600" cy="14630400"/>
  <p:embeddedFontLst>
    <p:embeddedFont>
      <p:font typeface="Tomorrow" panose="020B0604020202020204" charset="0"/>
      <p:regular r:id="rId22"/>
    </p:embeddedFont>
    <p:embeddedFont>
      <p:font typeface="Tomorrow Semi Bold" panose="020B0604020202020204" charset="0"/>
      <p:regular r:id="rId23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2619F50-84AA-416D-AB6F-F6F141F37FE5}" v="4" dt="2025-03-21T15:35:45.9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858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urysson Chagas de Sousa Morais" userId="2c7093aa27a5f355" providerId="LiveId" clId="{92619F50-84AA-416D-AB6F-F6F141F37FE5}"/>
    <pc:docChg chg="custSel addSld delSld modSld sldOrd">
      <pc:chgData name="Reurysson Chagas de Sousa Morais" userId="2c7093aa27a5f355" providerId="LiveId" clId="{92619F50-84AA-416D-AB6F-F6F141F37FE5}" dt="2025-03-21T15:43:26.292" v="119" actId="47"/>
      <pc:docMkLst>
        <pc:docMk/>
      </pc:docMkLst>
      <pc:sldChg chg="modSp mod">
        <pc:chgData name="Reurysson Chagas de Sousa Morais" userId="2c7093aa27a5f355" providerId="LiveId" clId="{92619F50-84AA-416D-AB6F-F6F141F37FE5}" dt="2025-03-21T15:32:15.418" v="2" actId="20577"/>
        <pc:sldMkLst>
          <pc:docMk/>
          <pc:sldMk cId="0" sldId="256"/>
        </pc:sldMkLst>
        <pc:spChg chg="mod">
          <ac:chgData name="Reurysson Chagas de Sousa Morais" userId="2c7093aa27a5f355" providerId="LiveId" clId="{92619F50-84AA-416D-AB6F-F6F141F37FE5}" dt="2025-03-21T15:32:15.418" v="2" actId="20577"/>
          <ac:spMkLst>
            <pc:docMk/>
            <pc:sldMk cId="0" sldId="256"/>
            <ac:spMk id="8" creationId="{00000000-0000-0000-0000-000000000000}"/>
          </ac:spMkLst>
        </pc:spChg>
      </pc:sldChg>
      <pc:sldChg chg="new del">
        <pc:chgData name="Reurysson Chagas de Sousa Morais" userId="2c7093aa27a5f355" providerId="LiveId" clId="{92619F50-84AA-416D-AB6F-F6F141F37FE5}" dt="2025-03-21T15:43:26.292" v="119" actId="47"/>
        <pc:sldMkLst>
          <pc:docMk/>
          <pc:sldMk cId="2751402291" sldId="274"/>
        </pc:sldMkLst>
      </pc:sldChg>
      <pc:sldChg chg="addSp delSp modSp add mod ord">
        <pc:chgData name="Reurysson Chagas de Sousa Morais" userId="2c7093aa27a5f355" providerId="LiveId" clId="{92619F50-84AA-416D-AB6F-F6F141F37FE5}" dt="2025-03-21T15:43:12.463" v="118" actId="1076"/>
        <pc:sldMkLst>
          <pc:docMk/>
          <pc:sldMk cId="3065310331" sldId="275"/>
        </pc:sldMkLst>
        <pc:spChg chg="mod">
          <ac:chgData name="Reurysson Chagas de Sousa Morais" userId="2c7093aa27a5f355" providerId="LiveId" clId="{92619F50-84AA-416D-AB6F-F6F141F37FE5}" dt="2025-03-21T15:34:08.544" v="41" actId="20577"/>
          <ac:spMkLst>
            <pc:docMk/>
            <pc:sldMk cId="3065310331" sldId="275"/>
            <ac:spMk id="2" creationId="{B683E06D-26AF-48D8-FFDC-3BBCFF2E2950}"/>
          </ac:spMkLst>
        </pc:spChg>
        <pc:spChg chg="mod">
          <ac:chgData name="Reurysson Chagas de Sousa Morais" userId="2c7093aa27a5f355" providerId="LiveId" clId="{92619F50-84AA-416D-AB6F-F6F141F37FE5}" dt="2025-03-21T15:35:53.108" v="103" actId="14100"/>
          <ac:spMkLst>
            <pc:docMk/>
            <pc:sldMk cId="3065310331" sldId="275"/>
            <ac:spMk id="3" creationId="{89386E96-9096-771F-A482-9DFD5A38D9DE}"/>
          </ac:spMkLst>
        </pc:spChg>
        <pc:spChg chg="add mod">
          <ac:chgData name="Reurysson Chagas de Sousa Morais" userId="2c7093aa27a5f355" providerId="LiveId" clId="{92619F50-84AA-416D-AB6F-F6F141F37FE5}" dt="2025-03-21T15:35:59.789" v="105" actId="1076"/>
          <ac:spMkLst>
            <pc:docMk/>
            <pc:sldMk cId="3065310331" sldId="275"/>
            <ac:spMk id="6" creationId="{E29F9AB6-18A8-D609-50AE-803FD4BD4744}"/>
          </ac:spMkLst>
        </pc:spChg>
        <pc:picChg chg="del">
          <ac:chgData name="Reurysson Chagas de Sousa Morais" userId="2c7093aa27a5f355" providerId="LiveId" clId="{92619F50-84AA-416D-AB6F-F6F141F37FE5}" dt="2025-03-21T15:33:18.634" v="7" actId="478"/>
          <ac:picMkLst>
            <pc:docMk/>
            <pc:sldMk cId="3065310331" sldId="275"/>
            <ac:picMk id="5" creationId="{0A629001-454D-2E02-2760-FDC36C3119D7}"/>
          </ac:picMkLst>
        </pc:picChg>
        <pc:picChg chg="add mod">
          <ac:chgData name="Reurysson Chagas de Sousa Morais" userId="2c7093aa27a5f355" providerId="LiveId" clId="{92619F50-84AA-416D-AB6F-F6F141F37FE5}" dt="2025-03-21T15:43:09.195" v="117" actId="1076"/>
          <ac:picMkLst>
            <pc:docMk/>
            <pc:sldMk cId="3065310331" sldId="275"/>
            <ac:picMk id="8" creationId="{68DDD16B-1837-AF6D-8821-EC9735998E0B}"/>
          </ac:picMkLst>
        </pc:picChg>
        <pc:picChg chg="add mod">
          <ac:chgData name="Reurysson Chagas de Sousa Morais" userId="2c7093aa27a5f355" providerId="LiveId" clId="{92619F50-84AA-416D-AB6F-F6F141F37FE5}" dt="2025-03-21T15:43:12.463" v="118" actId="1076"/>
          <ac:picMkLst>
            <pc:docMk/>
            <pc:sldMk cId="3065310331" sldId="275"/>
            <ac:picMk id="10" creationId="{340C8378-DDB7-AB09-7827-281E1C1E296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38854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8EBF7-8C56-EDEC-0AA8-409899473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E805C3-1D6A-4F7F-8855-ECF948696E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E534CB-A523-09A8-E94E-BB13E8D79C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54F14-CCFA-54D3-8091-1B0823E951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8057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D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D1D1B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D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D1D1B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D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D1D1B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D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D1D1B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D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D1D1B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D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D1D1B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D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D1D1B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D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D1D1B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D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D1D1B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D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D1D1B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D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D1D1B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D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D1D1B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D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D1D1B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D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D1D1B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D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D1D1B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D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D1D1B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D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D1D1B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8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D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D1D1B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</p:sldLayoutIdLst>
  <p:hf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eurysson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hyperlink" Target="https://osf.io/8j6n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7607" y="2591872"/>
            <a:ext cx="4919186" cy="3045857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93790" y="2184083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EDEDE8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Python Para Análises de Dados</a:t>
            </a:r>
            <a:endParaRPr lang="en-US" sz="4450" dirty="0"/>
          </a:p>
        </p:txBody>
      </p:sp>
      <p:sp>
        <p:nvSpPr>
          <p:cNvPr id="5" name="Text 1"/>
          <p:cNvSpPr/>
          <p:nvPr/>
        </p:nvSpPr>
        <p:spPr>
          <a:xfrm>
            <a:off x="793790" y="3941802"/>
            <a:ext cx="7556421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Esta apresentação oferece uma visão geral de Python para análise de dados. Exploraremos o que é Python e por que ele é ideal para essa finalidade. Também abordaremos as principais bibliotecas e como começar a usar Python em seus projetos.</a:t>
            </a:r>
            <a:endParaRPr lang="en-US" sz="1750" dirty="0"/>
          </a:p>
        </p:txBody>
      </p:sp>
      <p:sp>
        <p:nvSpPr>
          <p:cNvPr id="6" name="Shape 2"/>
          <p:cNvSpPr/>
          <p:nvPr/>
        </p:nvSpPr>
        <p:spPr>
          <a:xfrm>
            <a:off x="793790" y="5665470"/>
            <a:ext cx="362903" cy="362903"/>
          </a:xfrm>
          <a:prstGeom prst="roundRect">
            <a:avLst>
              <a:gd name="adj" fmla="val 25194296"/>
            </a:avLst>
          </a:prstGeom>
          <a:noFill/>
          <a:ln w="762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410" y="5673090"/>
            <a:ext cx="347663" cy="347663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270040" y="5648563"/>
            <a:ext cx="3861792" cy="3968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2200" b="1" dirty="0">
                <a:solidFill>
                  <a:srgbClr val="C9C9C0"/>
                </a:solidFill>
                <a:latin typeface="Tomorrow Bold" pitchFamily="34" charset="0"/>
                <a:ea typeface="Tomorrow Bold" pitchFamily="34" charset="-122"/>
                <a:cs typeface="Tomorrow Bold" pitchFamily="34" charset="-120"/>
              </a:rPr>
              <a:t>Prof. Reurysson Morais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00902"/>
            <a:ext cx="859024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EDEDE8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O Criador - Guido van Rossum</a:t>
            </a:r>
            <a:endParaRPr lang="en-US" sz="4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804993"/>
            <a:ext cx="2432090" cy="1945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3790" y="5005745"/>
            <a:ext cx="243768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3792498" y="2753916"/>
            <a:ext cx="1005161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Python, uma das linguagens de programação mais populares do mundo atualmente. 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3792498" y="3320891"/>
            <a:ext cx="10051613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Criada por Guido van Rossum, em meados de 1989, a liguagem Python foi concebida para ser uma linguagem de programação simples e legível, com uma ênfase na legibilidade e produtividade.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3792498" y="4613672"/>
            <a:ext cx="1005161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Sua primeira versão, a 0.9.0 foi lançada em fevereiro de 1991.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3792498" y="5180647"/>
            <a:ext cx="1005161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Atualmente, possui um modelo de desenvolvimento comunitário, aberto e gerenciado pela organização sem fins lucrativos Python Software.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793790" y="6365677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5400" y="792718"/>
            <a:ext cx="4419600" cy="12496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3845481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EDEDE8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A "criatura"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4894421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Embora sua logo remeta a serpente python, a oriegem de seu none está ligada ao grupoo humorístico britânico Monty Python, criador do programa Monty Python's Flying Circus,Python. 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793790" y="5875377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Guido van Rossum era fã do humor do grupo e decidiu escolher um nome que fosse curto, único e um pouco divertido, refletindo o espírito leve e acessível que ele queria para sua linguagem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793790" y="6856333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78681"/>
            <a:ext cx="13042821" cy="1275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000"/>
              </a:lnSpc>
              <a:buNone/>
            </a:pPr>
            <a:r>
              <a:rPr lang="en-US" sz="4000" dirty="0">
                <a:solidFill>
                  <a:srgbClr val="EDEDE8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Parte dá popularidade do Python se deve aos seus princípios orientadores criados por Tim Peters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93790" y="2532102"/>
            <a:ext cx="6272451" cy="326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Bonito é melhor que feio.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93790" y="2930247"/>
            <a:ext cx="6272451" cy="326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Explícito é melhor que implícito.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93790" y="3328392"/>
            <a:ext cx="6272451" cy="326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Simples é melhor que complexo.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93790" y="3726537"/>
            <a:ext cx="6272451" cy="326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Complexo é melhor que complicado.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93790" y="4124682"/>
            <a:ext cx="6272451" cy="326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Linear é melhor do que aninhado.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93790" y="4522827"/>
            <a:ext cx="6272451" cy="326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Esparso é melhor que denso.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93790" y="4920972"/>
            <a:ext cx="6272451" cy="326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Legibilidade conta.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93790" y="5319117"/>
            <a:ext cx="6272451" cy="653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Casos especiais não são especiais o bastante para quebrar as regras.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3790" y="6043970"/>
            <a:ext cx="6272451" cy="326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Ainda que praticidade vença a pureza.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93790" y="6442115"/>
            <a:ext cx="6272451" cy="326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Erros nunca devem passar silenciosamente.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93790" y="6840260"/>
            <a:ext cx="6272451" cy="326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A menos que sejam explicitamente silenciados.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571780" y="2532102"/>
            <a:ext cx="6272451" cy="326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Diante da ambiguidade, recuse a tentação de adivinhar.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571780" y="2930247"/>
            <a:ext cx="6272451" cy="653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Dever haver um — e preferencialmente apenas um — modo óbvio para fazer algo.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571780" y="3655100"/>
            <a:ext cx="6272451" cy="653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Embora esse modo possa não ser óbvio a princípio a menos que você seja holandês.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571780" y="4379952"/>
            <a:ext cx="6272451" cy="326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Agora é melhor que nunca.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571780" y="4778097"/>
            <a:ext cx="6272451" cy="653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Apesar de que nunca normalmente é melhor do que </a:t>
            </a:r>
            <a:r>
              <a:rPr lang="en-US" sz="1600" i="1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exatamente</a:t>
            </a:r>
            <a:r>
              <a:rPr lang="en-US" sz="16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 agora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571780" y="5502950"/>
            <a:ext cx="6272451" cy="326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Se a implementação é difícil de explicar, é uma má ideia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571780" y="5901095"/>
            <a:ext cx="6272451" cy="653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Se a implementação é fácil de explicar, pode ser uma boa ideia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571780" y="6625947"/>
            <a:ext cx="6272451" cy="653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Namespaces são uma grande ideia — vamos ter mais dessas!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1647" y="623054"/>
            <a:ext cx="13047107" cy="1343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250"/>
              </a:lnSpc>
              <a:buNone/>
            </a:pPr>
            <a:r>
              <a:rPr lang="en-US" sz="4200" dirty="0">
                <a:solidFill>
                  <a:srgbClr val="EDEDE8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Python é uma liguagem e programação, mas o que isso significa?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791647" y="2395776"/>
            <a:ext cx="13047107" cy="343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Liguagens formais e naturais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791647" y="2981325"/>
            <a:ext cx="13047107" cy="343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6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Naturais - são os idiomas que as pessoas falam. Não foram idealizadas pelas pessoas, desenvolveram-se naturalmente.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791647" y="3400306"/>
            <a:ext cx="13047107" cy="687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6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Formais - São criadas para aplicações específicas e seguem regras bem definidas, utilizadas em áreas como matemática, programação e ciência.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791647" y="4163139"/>
            <a:ext cx="13047107" cy="343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685800" lvl="1" indent="-342900" algn="l">
              <a:lnSpc>
                <a:spcPts val="2700"/>
              </a:lnSpc>
              <a:buSzPct val="100000"/>
              <a:buChar char="•"/>
            </a:pPr>
            <a:r>
              <a:rPr lang="en-US" sz="16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Tem regas de sintaxe estritas que governam a estrutura de declarações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91647" y="4582120"/>
            <a:ext cx="13047107" cy="343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685800" lvl="1" indent="-342900" algn="l">
              <a:lnSpc>
                <a:spcPts val="2700"/>
              </a:lnSpc>
              <a:buSzPct val="100000"/>
              <a:buChar char="•"/>
            </a:pPr>
            <a:r>
              <a:rPr lang="en-US" sz="16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Ex: 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791647" y="5001101"/>
            <a:ext cx="13047107" cy="343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1028700" lvl="2" indent="-342900" algn="l">
              <a:lnSpc>
                <a:spcPts val="2700"/>
              </a:lnSpc>
              <a:buSzPct val="100000"/>
              <a:buChar char="•"/>
            </a:pPr>
            <a:r>
              <a:rPr lang="en-US" sz="16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1 + 1 = 2 (Correto)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91647" y="5420082"/>
            <a:ext cx="13047107" cy="343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1028700" lvl="2" indent="-342900" algn="l">
              <a:lnSpc>
                <a:spcPts val="2700"/>
              </a:lnSpc>
              <a:buSzPct val="100000"/>
              <a:buChar char="•"/>
            </a:pPr>
            <a:r>
              <a:rPr lang="en-US" sz="16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1 + l = ? (Errado)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791647" y="5839063"/>
            <a:ext cx="13047107" cy="343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685800" lvl="1" indent="-342900" algn="l">
              <a:lnSpc>
                <a:spcPts val="2700"/>
              </a:lnSpc>
              <a:buSzPct val="100000"/>
              <a:buChar char="•"/>
            </a:pPr>
            <a:r>
              <a:rPr lang="en-US" sz="16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As regras de sintaxe vêm de duas categorias relativas a SÍMBOLO e ESTRUTURA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791647" y="6258044"/>
            <a:ext cx="13047107" cy="343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1028700" lvl="2" indent="-342900" algn="l">
              <a:lnSpc>
                <a:spcPts val="2700"/>
              </a:lnSpc>
              <a:buSzPct val="100000"/>
              <a:buChar char="•"/>
            </a:pPr>
            <a:r>
              <a:rPr lang="en-US" sz="16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Simbolos são elementos básicos da linguagem (números, letras, palavras, operadores)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91647" y="6677025"/>
            <a:ext cx="13047107" cy="343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1028700" lvl="2" indent="-342900" algn="l">
              <a:lnSpc>
                <a:spcPts val="2700"/>
              </a:lnSpc>
              <a:buSzPct val="100000"/>
              <a:buChar char="•"/>
            </a:pPr>
            <a:r>
              <a:rPr lang="en-US" sz="16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Estrutura: define como os símbolos devem ser organizados para formar expressões válidas.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91647" y="7262574"/>
            <a:ext cx="13047107" cy="343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6576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451390" y="1223129"/>
            <a:ext cx="93852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EDEDE8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Diferenças entre as linguagens formais e naturais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4451390" y="2980849"/>
            <a:ext cx="93852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Ambiguidade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4451390" y="3423047"/>
            <a:ext cx="93852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685800" lvl="1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liguagens naturais são ambíguas. A compreensão às vezes depende do contexto. Já as formais são ineduívocas. 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4451390" y="4228148"/>
            <a:ext cx="93852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redundância 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4451390" y="4670346"/>
            <a:ext cx="93852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685800" lvl="1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para compensar a ambiguidade, as linguagens naturais são redundantes, verborrágicas. As naturais são consisas.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4451390" y="5475446"/>
            <a:ext cx="93852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literalidade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4451390" y="5917644"/>
            <a:ext cx="938522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685800" lvl="1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As formais são literais, têm significado exatamente iguais ao que expressam, diferentemente das natuais onde uma expresão tem significa diferente do que expressa (e.g. "A fica caiu").</a:t>
            </a:r>
            <a:endParaRPr lang="en-US" sz="1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74721"/>
            <a:ext cx="11243191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EDEDE8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Por que Python para Análise de Dados?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737128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Font typeface="+mj-lt"/>
              <a:buAutoNum type="arabicPeriod"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Simplicidade e Legibilidade Sintaxe clara e intuitiva, ideal para iniciantes e especialistas.</a:t>
            </a:r>
            <a:endParaRPr lang="en-US" sz="1750" dirty="0"/>
          </a:p>
        </p:txBody>
      </p:sp>
      <p:sp>
        <p:nvSpPr>
          <p:cNvPr id="4" name="Text 2"/>
          <p:cNvSpPr/>
          <p:nvPr/>
        </p:nvSpPr>
        <p:spPr>
          <a:xfrm>
            <a:off x="793790" y="3179326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Font typeface="+mj-lt"/>
              <a:buAutoNum type="arabicPeriod" startAt="2"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Código fácil de escrever, entender e manter.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3621524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Font typeface="+mj-lt"/>
              <a:buAutoNum type="arabicPeriod" startAt="3"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Bibliotecas Poderosas Acesso a bibliotecas populares como Pandas (manipulação de dados), NumPy (computação numérica) e Matplotlib/Seaborn (visualização).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93790" y="4426625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Font typeface="+mj-lt"/>
              <a:buAutoNum type="arabicPeriod" startAt="4"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Comunidade Ativa Grande suporte de uma comunidade global, com fóruns, tutoriais e soluções rápidas.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4868823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Font typeface="+mj-lt"/>
              <a:buAutoNum type="arabicPeriod" startAt="5"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Versatilidade Pode ser usado para pré-processamento de dados, aprendizado de máquina e visualização em um único ambiente.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793790" y="5673923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Font typeface="+mj-lt"/>
              <a:buAutoNum type="arabicPeriod" startAt="6"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Integração com Outros Sistemas Fácil integração com bancos de dados, ferramentas de BI e linguagens como SQL.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793790" y="6291977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Linguagem interpretada de alto nível</a:t>
            </a:r>
            <a:endParaRPr lang="en-US" sz="1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44604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EDEDE8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Tipo de linguagem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1807012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Python é uma liguagem</a:t>
            </a:r>
            <a:endParaRPr lang="en-US" sz="1750" dirty="0"/>
          </a:p>
        </p:txBody>
      </p:sp>
      <p:sp>
        <p:nvSpPr>
          <p:cNvPr id="4" name="Text 2"/>
          <p:cNvSpPr/>
          <p:nvPr/>
        </p:nvSpPr>
        <p:spPr>
          <a:xfrm>
            <a:off x="793790" y="2425065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Interpretada </a:t>
            </a: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- O código-fonte é executado linha por linha por um interpretador durante o tempo de execução, o que pode ser mais lento, mas permite maior flexibilidade e facilidade para depurar. 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3406021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Alto níve</a:t>
            </a: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l: Mais focada em simplicidade e legibilidade, afastando-se de detalhes do hardware.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93790" y="4024074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Dinâmicamente tipada</a:t>
            </a: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: Não é necessário declarar tipos, e as variáveis podem mudar de tipo em tempo de execução.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4642128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Orientada a Objetos</a:t>
            </a: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: segue o paradigma da programação orientada a objetos, no qual os conceitos e a estrutura do código são organizados em torno de objetos.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793790" y="5623084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Desempenho moderado</a:t>
            </a: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: Não é tão rápido quanto as liguagem compiladas (e.g. C, C++), mas compensa em produtividade.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793790" y="6604040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Fácil de aprender e usar</a:t>
            </a: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: Projetada para ser intuitiva, com uma sintaxe limpa.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793790" y="7222093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Uso típico</a:t>
            </a: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: Desenvolvimento web, geoprocessamento, ciência de dados, automação, inteligência artificial, entre outros.</a:t>
            </a:r>
            <a:endParaRPr lang="en-US" sz="1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2134553"/>
            <a:ext cx="729650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EDEDE8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Mas quais tipo de Dados?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3183493"/>
            <a:ext cx="2913697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DEDE8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Dados Estruturados 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93790" y="3877985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Dados tabulares ou do tipo planilha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793790" y="4496038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Arrays multidimensionais (matrizes)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793790" y="5114092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Tabelas inter-relacionadas (banco de dados relacional)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793790" y="5732145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Séries temporais</a:t>
            </a:r>
            <a:endParaRPr lang="en-US" sz="1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810458"/>
            <a:ext cx="6152555" cy="4607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2900" dirty="0">
                <a:solidFill>
                  <a:srgbClr val="EDEDE8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Bibliotecas Essenciais do Python</a:t>
            </a:r>
            <a:endParaRPr lang="en-US" sz="2900" dirty="0"/>
          </a:p>
        </p:txBody>
      </p:sp>
      <p:sp>
        <p:nvSpPr>
          <p:cNvPr id="4" name="Shape 1"/>
          <p:cNvSpPr/>
          <p:nvPr/>
        </p:nvSpPr>
        <p:spPr>
          <a:xfrm>
            <a:off x="793790" y="1658183"/>
            <a:ext cx="331708" cy="331708"/>
          </a:xfrm>
          <a:prstGeom prst="roundRect">
            <a:avLst>
              <a:gd name="adj" fmla="val 6667"/>
            </a:avLst>
          </a:prstGeom>
          <a:solidFill>
            <a:srgbClr val="3C3C3A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094" y="1685865"/>
            <a:ext cx="221099" cy="27634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272897" y="1658183"/>
            <a:ext cx="1842968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C9C9C0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NumPy</a:t>
            </a:r>
            <a:endParaRPr lang="en-US" sz="1450" dirty="0"/>
          </a:p>
        </p:txBody>
      </p:sp>
      <p:sp>
        <p:nvSpPr>
          <p:cNvPr id="7" name="Text 3"/>
          <p:cNvSpPr/>
          <p:nvPr/>
        </p:nvSpPr>
        <p:spPr>
          <a:xfrm>
            <a:off x="1272897" y="1976914"/>
            <a:ext cx="7077313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Computação numérica eficiente.</a:t>
            </a:r>
            <a:endParaRPr lang="en-US" sz="1150" dirty="0"/>
          </a:p>
        </p:txBody>
      </p:sp>
      <p:sp>
        <p:nvSpPr>
          <p:cNvPr id="8" name="Shape 4"/>
          <p:cNvSpPr/>
          <p:nvPr/>
        </p:nvSpPr>
        <p:spPr>
          <a:xfrm>
            <a:off x="793790" y="2525911"/>
            <a:ext cx="331708" cy="331708"/>
          </a:xfrm>
          <a:prstGeom prst="roundRect">
            <a:avLst>
              <a:gd name="adj" fmla="val 6667"/>
            </a:avLst>
          </a:prstGeom>
          <a:solidFill>
            <a:srgbClr val="3C3C3A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094" y="2553593"/>
            <a:ext cx="221099" cy="27634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72897" y="2525911"/>
            <a:ext cx="1842968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C9C9C0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Pandas</a:t>
            </a:r>
            <a:endParaRPr lang="en-US" sz="1450" dirty="0"/>
          </a:p>
        </p:txBody>
      </p:sp>
      <p:sp>
        <p:nvSpPr>
          <p:cNvPr id="11" name="Text 6"/>
          <p:cNvSpPr/>
          <p:nvPr/>
        </p:nvSpPr>
        <p:spPr>
          <a:xfrm>
            <a:off x="1272897" y="2844641"/>
            <a:ext cx="7077313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Manipulação de dados tabulares.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793790" y="3393638"/>
            <a:ext cx="331708" cy="331708"/>
          </a:xfrm>
          <a:prstGeom prst="roundRect">
            <a:avLst>
              <a:gd name="adj" fmla="val 6667"/>
            </a:avLst>
          </a:prstGeom>
          <a:solidFill>
            <a:srgbClr val="3C3C3A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094" y="3421320"/>
            <a:ext cx="221099" cy="27634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272897" y="3393638"/>
            <a:ext cx="1842968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C9C9C0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SciPy</a:t>
            </a:r>
            <a:endParaRPr lang="en-US" sz="1450" dirty="0"/>
          </a:p>
        </p:txBody>
      </p:sp>
      <p:sp>
        <p:nvSpPr>
          <p:cNvPr id="15" name="Text 9"/>
          <p:cNvSpPr/>
          <p:nvPr/>
        </p:nvSpPr>
        <p:spPr>
          <a:xfrm>
            <a:off x="1272897" y="3712369"/>
            <a:ext cx="7077313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Processamento Científico (matemática e estatística)</a:t>
            </a:r>
            <a:endParaRPr lang="en-US" sz="1150" dirty="0"/>
          </a:p>
        </p:txBody>
      </p:sp>
      <p:sp>
        <p:nvSpPr>
          <p:cNvPr id="16" name="Shape 10"/>
          <p:cNvSpPr/>
          <p:nvPr/>
        </p:nvSpPr>
        <p:spPr>
          <a:xfrm>
            <a:off x="793790" y="4261366"/>
            <a:ext cx="331708" cy="331708"/>
          </a:xfrm>
          <a:prstGeom prst="roundRect">
            <a:avLst>
              <a:gd name="adj" fmla="val 6667"/>
            </a:avLst>
          </a:prstGeom>
          <a:solidFill>
            <a:srgbClr val="3C3C3A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094" y="4289048"/>
            <a:ext cx="221099" cy="276344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72897" y="4261366"/>
            <a:ext cx="1842968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C9C9C0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Matplotlib</a:t>
            </a:r>
            <a:endParaRPr lang="en-US" sz="1450" dirty="0"/>
          </a:p>
        </p:txBody>
      </p:sp>
      <p:sp>
        <p:nvSpPr>
          <p:cNvPr id="19" name="Text 12"/>
          <p:cNvSpPr/>
          <p:nvPr/>
        </p:nvSpPr>
        <p:spPr>
          <a:xfrm>
            <a:off x="1272897" y="4580096"/>
            <a:ext cx="7077313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Criação de visualizações.</a:t>
            </a:r>
            <a:endParaRPr lang="en-US" sz="1150" dirty="0"/>
          </a:p>
        </p:txBody>
      </p:sp>
      <p:sp>
        <p:nvSpPr>
          <p:cNvPr id="20" name="Shape 13"/>
          <p:cNvSpPr/>
          <p:nvPr/>
        </p:nvSpPr>
        <p:spPr>
          <a:xfrm>
            <a:off x="793790" y="5129093"/>
            <a:ext cx="331708" cy="331708"/>
          </a:xfrm>
          <a:prstGeom prst="roundRect">
            <a:avLst>
              <a:gd name="adj" fmla="val 6667"/>
            </a:avLst>
          </a:prstGeom>
          <a:solidFill>
            <a:srgbClr val="3C3C3A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9094" y="5156775"/>
            <a:ext cx="221099" cy="276344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272897" y="5129093"/>
            <a:ext cx="1842968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C9C9C0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Seaborn</a:t>
            </a:r>
            <a:endParaRPr lang="en-US" sz="1450" dirty="0"/>
          </a:p>
        </p:txBody>
      </p:sp>
      <p:sp>
        <p:nvSpPr>
          <p:cNvPr id="23" name="Text 15"/>
          <p:cNvSpPr/>
          <p:nvPr/>
        </p:nvSpPr>
        <p:spPr>
          <a:xfrm>
            <a:off x="1272897" y="5447824"/>
            <a:ext cx="7077313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Visualizações estatísticas avançadas.</a:t>
            </a:r>
            <a:endParaRPr lang="en-US" sz="1150" dirty="0"/>
          </a:p>
        </p:txBody>
      </p:sp>
      <p:sp>
        <p:nvSpPr>
          <p:cNvPr id="24" name="Shape 16"/>
          <p:cNvSpPr/>
          <p:nvPr/>
        </p:nvSpPr>
        <p:spPr>
          <a:xfrm>
            <a:off x="793790" y="5996821"/>
            <a:ext cx="331708" cy="331708"/>
          </a:xfrm>
          <a:prstGeom prst="roundRect">
            <a:avLst>
              <a:gd name="adj" fmla="val 6667"/>
            </a:avLst>
          </a:prstGeom>
          <a:solidFill>
            <a:srgbClr val="3C3C3A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9094" y="6024503"/>
            <a:ext cx="221099" cy="276344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1272897" y="5996821"/>
            <a:ext cx="1842968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C9C9C0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Scikit-learn</a:t>
            </a:r>
            <a:endParaRPr lang="en-US" sz="1450" dirty="0"/>
          </a:p>
        </p:txBody>
      </p:sp>
      <p:sp>
        <p:nvSpPr>
          <p:cNvPr id="27" name="Text 18"/>
          <p:cNvSpPr/>
          <p:nvPr/>
        </p:nvSpPr>
        <p:spPr>
          <a:xfrm>
            <a:off x="1272897" y="6315551"/>
            <a:ext cx="7077313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Aprendizado de Máquina</a:t>
            </a:r>
            <a:endParaRPr lang="en-US" sz="1150" dirty="0"/>
          </a:p>
        </p:txBody>
      </p:sp>
      <p:sp>
        <p:nvSpPr>
          <p:cNvPr id="28" name="Shape 19"/>
          <p:cNvSpPr/>
          <p:nvPr/>
        </p:nvSpPr>
        <p:spPr>
          <a:xfrm>
            <a:off x="793790" y="6864548"/>
            <a:ext cx="331708" cy="331708"/>
          </a:xfrm>
          <a:prstGeom prst="roundRect">
            <a:avLst>
              <a:gd name="adj" fmla="val 6667"/>
            </a:avLst>
          </a:prstGeom>
          <a:solidFill>
            <a:srgbClr val="3C3C3A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9094" y="6892230"/>
            <a:ext cx="221099" cy="276344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1272897" y="6864548"/>
            <a:ext cx="1842968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C9C9C0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Statsmodels</a:t>
            </a:r>
            <a:endParaRPr lang="en-US" sz="1450" dirty="0"/>
          </a:p>
        </p:txBody>
      </p:sp>
      <p:sp>
        <p:nvSpPr>
          <p:cNvPr id="31" name="Text 21"/>
          <p:cNvSpPr/>
          <p:nvPr/>
        </p:nvSpPr>
        <p:spPr>
          <a:xfrm>
            <a:off x="1272897" y="7183279"/>
            <a:ext cx="7077313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Modelagem Estatística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811298"/>
            <a:ext cx="7331631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EDEDE8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NumPy: A Base Numérica</a:t>
            </a:r>
            <a:endParaRPr lang="en-US" sz="4450" dirty="0"/>
          </a:p>
        </p:txBody>
      </p:sp>
      <p:sp>
        <p:nvSpPr>
          <p:cNvPr id="4" name="Shape 1"/>
          <p:cNvSpPr/>
          <p:nvPr/>
        </p:nvSpPr>
        <p:spPr>
          <a:xfrm>
            <a:off x="793790" y="2860238"/>
            <a:ext cx="3664863" cy="2024182"/>
          </a:xfrm>
          <a:prstGeom prst="roundRect">
            <a:avLst>
              <a:gd name="adj" fmla="val 1681"/>
            </a:avLst>
          </a:prstGeom>
          <a:solidFill>
            <a:srgbClr val="3C3C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2"/>
          <p:cNvSpPr/>
          <p:nvPr/>
        </p:nvSpPr>
        <p:spPr>
          <a:xfrm>
            <a:off x="1020604" y="308705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C9C9C0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Arrays NumPy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020604" y="3577471"/>
            <a:ext cx="321123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Estruturas eficientes para dados numéricos.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4685467" y="2860238"/>
            <a:ext cx="3664863" cy="2024182"/>
          </a:xfrm>
          <a:prstGeom prst="roundRect">
            <a:avLst>
              <a:gd name="adj" fmla="val 1681"/>
            </a:avLst>
          </a:prstGeom>
          <a:solidFill>
            <a:srgbClr val="3C3C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4912281" y="3087053"/>
            <a:ext cx="3211235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C9C9C0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Operações Vetorizadas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4912281" y="3931801"/>
            <a:ext cx="321123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Aplicações rápidas e concisas.</a:t>
            </a:r>
            <a:endParaRPr lang="en-US" sz="1750" dirty="0"/>
          </a:p>
        </p:txBody>
      </p:sp>
      <p:sp>
        <p:nvSpPr>
          <p:cNvPr id="10" name="Shape 7"/>
          <p:cNvSpPr/>
          <p:nvPr/>
        </p:nvSpPr>
        <p:spPr>
          <a:xfrm>
            <a:off x="793790" y="5111234"/>
            <a:ext cx="7556421" cy="1306949"/>
          </a:xfrm>
          <a:prstGeom prst="roundRect">
            <a:avLst>
              <a:gd name="adj" fmla="val 2603"/>
            </a:avLst>
          </a:prstGeom>
          <a:solidFill>
            <a:srgbClr val="3C3C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1020604" y="533804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C9C9C0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Broadcasting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020604" y="5828467"/>
            <a:ext cx="710279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Operações entre arrays de tamanhos diferentes.</a:t>
            </a:r>
            <a:endParaRPr lang="en-US" sz="1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718542"/>
            <a:ext cx="6843951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EDEDE8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Pandas: DataFrames em Ação</a:t>
            </a:r>
            <a:endParaRPr lang="en-US" sz="3550" dirty="0"/>
          </a:p>
        </p:txBody>
      </p:sp>
      <p:sp>
        <p:nvSpPr>
          <p:cNvPr id="4" name="Shape 1"/>
          <p:cNvSpPr/>
          <p:nvPr/>
        </p:nvSpPr>
        <p:spPr>
          <a:xfrm>
            <a:off x="6484263" y="1557695"/>
            <a:ext cx="22860" cy="5953244"/>
          </a:xfrm>
          <a:prstGeom prst="roundRect">
            <a:avLst>
              <a:gd name="adj" fmla="val 119070"/>
            </a:avLst>
          </a:prstGeom>
          <a:solidFill>
            <a:srgbClr val="55555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2"/>
          <p:cNvSpPr/>
          <p:nvPr/>
        </p:nvSpPr>
        <p:spPr>
          <a:xfrm>
            <a:off x="6665535" y="1954411"/>
            <a:ext cx="544354" cy="22860"/>
          </a:xfrm>
          <a:prstGeom prst="roundRect">
            <a:avLst>
              <a:gd name="adj" fmla="val 119070"/>
            </a:avLst>
          </a:prstGeom>
          <a:solidFill>
            <a:srgbClr val="55555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3"/>
          <p:cNvSpPr/>
          <p:nvPr/>
        </p:nvSpPr>
        <p:spPr>
          <a:xfrm>
            <a:off x="6280130" y="1761768"/>
            <a:ext cx="408265" cy="408265"/>
          </a:xfrm>
          <a:prstGeom prst="roundRect">
            <a:avLst>
              <a:gd name="adj" fmla="val 6667"/>
            </a:avLst>
          </a:prstGeom>
          <a:solidFill>
            <a:srgbClr val="3C3C3A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8115" y="1795760"/>
            <a:ext cx="272177" cy="34016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391638" y="1739146"/>
            <a:ext cx="2268260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C9C9C0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DataFrames</a:t>
            </a:r>
            <a:endParaRPr lang="en-US" sz="1750" dirty="0"/>
          </a:p>
        </p:txBody>
      </p:sp>
      <p:sp>
        <p:nvSpPr>
          <p:cNvPr id="9" name="Text 5"/>
          <p:cNvSpPr/>
          <p:nvPr/>
        </p:nvSpPr>
        <p:spPr>
          <a:xfrm>
            <a:off x="7391638" y="2131457"/>
            <a:ext cx="6444972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Estruturas com linhas e colunas.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665535" y="3181350"/>
            <a:ext cx="544354" cy="22860"/>
          </a:xfrm>
          <a:prstGeom prst="roundRect">
            <a:avLst>
              <a:gd name="adj" fmla="val 119070"/>
            </a:avLst>
          </a:prstGeom>
          <a:solidFill>
            <a:srgbClr val="55555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Shape 7"/>
          <p:cNvSpPr/>
          <p:nvPr/>
        </p:nvSpPr>
        <p:spPr>
          <a:xfrm>
            <a:off x="6280130" y="2988707"/>
            <a:ext cx="408265" cy="408265"/>
          </a:xfrm>
          <a:prstGeom prst="roundRect">
            <a:avLst>
              <a:gd name="adj" fmla="val 6667"/>
            </a:avLst>
          </a:prstGeom>
          <a:solidFill>
            <a:srgbClr val="3C3C3A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8115" y="3022699"/>
            <a:ext cx="272177" cy="34016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391638" y="2966085"/>
            <a:ext cx="2268260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C9C9C0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Leitura de Dados</a:t>
            </a:r>
            <a:endParaRPr lang="en-US" sz="1750" dirty="0"/>
          </a:p>
        </p:txBody>
      </p:sp>
      <p:sp>
        <p:nvSpPr>
          <p:cNvPr id="14" name="Text 9"/>
          <p:cNvSpPr/>
          <p:nvPr/>
        </p:nvSpPr>
        <p:spPr>
          <a:xfrm>
            <a:off x="7391638" y="3358396"/>
            <a:ext cx="6444972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Importe de CSV, Excel, etc.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665535" y="4408289"/>
            <a:ext cx="544354" cy="22860"/>
          </a:xfrm>
          <a:prstGeom prst="roundRect">
            <a:avLst>
              <a:gd name="adj" fmla="val 119070"/>
            </a:avLst>
          </a:prstGeom>
          <a:solidFill>
            <a:srgbClr val="55555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Shape 11"/>
          <p:cNvSpPr/>
          <p:nvPr/>
        </p:nvSpPr>
        <p:spPr>
          <a:xfrm>
            <a:off x="6280130" y="4215646"/>
            <a:ext cx="408265" cy="408265"/>
          </a:xfrm>
          <a:prstGeom prst="roundRect">
            <a:avLst>
              <a:gd name="adj" fmla="val 6667"/>
            </a:avLst>
          </a:prstGeom>
          <a:solidFill>
            <a:srgbClr val="3C3C3A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8115" y="4249638"/>
            <a:ext cx="272177" cy="34016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391638" y="4193024"/>
            <a:ext cx="2268260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C9C9C0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Limpeza de Dados</a:t>
            </a:r>
            <a:endParaRPr lang="en-US" sz="1750" dirty="0"/>
          </a:p>
        </p:txBody>
      </p:sp>
      <p:sp>
        <p:nvSpPr>
          <p:cNvPr id="19" name="Text 13"/>
          <p:cNvSpPr/>
          <p:nvPr/>
        </p:nvSpPr>
        <p:spPr>
          <a:xfrm>
            <a:off x="7391638" y="4585335"/>
            <a:ext cx="6444972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Tratamento de valores ausentes.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6665535" y="5635228"/>
            <a:ext cx="544354" cy="22860"/>
          </a:xfrm>
          <a:prstGeom prst="roundRect">
            <a:avLst>
              <a:gd name="adj" fmla="val 119070"/>
            </a:avLst>
          </a:prstGeom>
          <a:solidFill>
            <a:srgbClr val="55555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Shape 15"/>
          <p:cNvSpPr/>
          <p:nvPr/>
        </p:nvSpPr>
        <p:spPr>
          <a:xfrm>
            <a:off x="6280130" y="5442585"/>
            <a:ext cx="408265" cy="408265"/>
          </a:xfrm>
          <a:prstGeom prst="roundRect">
            <a:avLst>
              <a:gd name="adj" fmla="val 6667"/>
            </a:avLst>
          </a:prstGeom>
          <a:solidFill>
            <a:srgbClr val="3C3C3A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8115" y="5476577"/>
            <a:ext cx="272177" cy="34016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391638" y="5419963"/>
            <a:ext cx="2268260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C9C9C0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Agrupamento</a:t>
            </a:r>
            <a:endParaRPr lang="en-US" sz="1750" dirty="0"/>
          </a:p>
        </p:txBody>
      </p:sp>
      <p:sp>
        <p:nvSpPr>
          <p:cNvPr id="24" name="Text 17"/>
          <p:cNvSpPr/>
          <p:nvPr/>
        </p:nvSpPr>
        <p:spPr>
          <a:xfrm>
            <a:off x="7391638" y="5812274"/>
            <a:ext cx="6444972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Cálculo de estatísticas por grupo.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6665535" y="6862167"/>
            <a:ext cx="544354" cy="22860"/>
          </a:xfrm>
          <a:prstGeom prst="roundRect">
            <a:avLst>
              <a:gd name="adj" fmla="val 119070"/>
            </a:avLst>
          </a:prstGeom>
          <a:solidFill>
            <a:srgbClr val="55555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Shape 19"/>
          <p:cNvSpPr/>
          <p:nvPr/>
        </p:nvSpPr>
        <p:spPr>
          <a:xfrm>
            <a:off x="6280130" y="6669524"/>
            <a:ext cx="408265" cy="408265"/>
          </a:xfrm>
          <a:prstGeom prst="roundRect">
            <a:avLst>
              <a:gd name="adj" fmla="val 6667"/>
            </a:avLst>
          </a:prstGeom>
          <a:solidFill>
            <a:srgbClr val="3C3C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0"/>
          <p:cNvSpPr/>
          <p:nvPr/>
        </p:nvSpPr>
        <p:spPr>
          <a:xfrm>
            <a:off x="6348115" y="6703516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2100" dirty="0">
                <a:solidFill>
                  <a:srgbClr val="C9C9C0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5</a:t>
            </a:r>
            <a:endParaRPr lang="en-US" sz="2100" dirty="0"/>
          </a:p>
        </p:txBody>
      </p:sp>
      <p:sp>
        <p:nvSpPr>
          <p:cNvPr id="28" name="Text 21"/>
          <p:cNvSpPr/>
          <p:nvPr/>
        </p:nvSpPr>
        <p:spPr>
          <a:xfrm>
            <a:off x="7391638" y="6646902"/>
            <a:ext cx="3197185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C9C9C0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Análise Estatísticas Básicas</a:t>
            </a:r>
            <a:endParaRPr lang="en-US" sz="1750" dirty="0"/>
          </a:p>
        </p:txBody>
      </p:sp>
      <p:sp>
        <p:nvSpPr>
          <p:cNvPr id="29" name="Text 22"/>
          <p:cNvSpPr/>
          <p:nvPr/>
        </p:nvSpPr>
        <p:spPr>
          <a:xfrm>
            <a:off x="7391638" y="7039213"/>
            <a:ext cx="6444972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Análises descritivas apoiadas por recursos gráficos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7315200" cy="82296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4519" y="2208848"/>
            <a:ext cx="6776442" cy="381178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93790" y="694015"/>
            <a:ext cx="5727621" cy="1346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300"/>
              </a:lnSpc>
              <a:buNone/>
            </a:pPr>
            <a:r>
              <a:rPr lang="en-US" sz="4200" dirty="0">
                <a:solidFill>
                  <a:srgbClr val="EDEDE8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Visualização Com Matplotlib</a:t>
            </a:r>
            <a:endParaRPr lang="en-US" sz="4200" dirty="0"/>
          </a:p>
        </p:txBody>
      </p:sp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2363986"/>
            <a:ext cx="1077397" cy="129290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194322" y="2579370"/>
            <a:ext cx="2693551" cy="336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C9C9C0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Matplotlib</a:t>
            </a:r>
            <a:endParaRPr lang="en-US" sz="2100" dirty="0"/>
          </a:p>
        </p:txBody>
      </p:sp>
      <p:sp>
        <p:nvSpPr>
          <p:cNvPr id="7" name="Text 2"/>
          <p:cNvSpPr/>
          <p:nvPr/>
        </p:nvSpPr>
        <p:spPr>
          <a:xfrm>
            <a:off x="2194322" y="3045143"/>
            <a:ext cx="4327088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Criação de gráficos personalizados.</a:t>
            </a:r>
            <a:endParaRPr lang="en-US" sz="16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790" y="3656886"/>
            <a:ext cx="1077397" cy="1292900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2194322" y="3872270"/>
            <a:ext cx="2693551" cy="336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C9C9C0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Seaborn</a:t>
            </a:r>
            <a:endParaRPr lang="en-US" sz="2100" dirty="0"/>
          </a:p>
        </p:txBody>
      </p:sp>
      <p:sp>
        <p:nvSpPr>
          <p:cNvPr id="10" name="Text 4"/>
          <p:cNvSpPr/>
          <p:nvPr/>
        </p:nvSpPr>
        <p:spPr>
          <a:xfrm>
            <a:off x="2194322" y="4338042"/>
            <a:ext cx="4327088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Estilos pré-definidos e estatísticas.</a:t>
            </a:r>
            <a:endParaRPr lang="en-US" sz="165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3790" y="4949785"/>
            <a:ext cx="1077397" cy="129290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2194322" y="5165169"/>
            <a:ext cx="2693551" cy="336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C9C9C0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Escolha do Gráfico</a:t>
            </a:r>
            <a:endParaRPr lang="en-US" sz="2100" dirty="0"/>
          </a:p>
        </p:txBody>
      </p:sp>
      <p:sp>
        <p:nvSpPr>
          <p:cNvPr id="13" name="Text 6"/>
          <p:cNvSpPr/>
          <p:nvPr/>
        </p:nvSpPr>
        <p:spPr>
          <a:xfrm>
            <a:off x="2194322" y="5630942"/>
            <a:ext cx="4327088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Linha, dispersão, barras, etc.</a:t>
            </a:r>
            <a:endParaRPr lang="en-US" sz="1650" dirty="0"/>
          </a:p>
        </p:txBody>
      </p:sp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3790" y="6242685"/>
            <a:ext cx="1077397" cy="1292900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2194322" y="6458069"/>
            <a:ext cx="2693551" cy="336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C9C9C0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Personalização</a:t>
            </a:r>
            <a:endParaRPr lang="en-US" sz="2100" dirty="0"/>
          </a:p>
        </p:txBody>
      </p:sp>
      <p:sp>
        <p:nvSpPr>
          <p:cNvPr id="16" name="Text 8"/>
          <p:cNvSpPr/>
          <p:nvPr/>
        </p:nvSpPr>
        <p:spPr>
          <a:xfrm>
            <a:off x="2194322" y="6923842"/>
            <a:ext cx="4327088" cy="344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Títulos, rótulos, cores e legendas.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71989"/>
            <a:ext cx="7835741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EDEDE8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Download do Python  - python.org</a:t>
            </a:r>
            <a:endParaRPr lang="en-US" sz="35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1511141"/>
            <a:ext cx="10434161" cy="555212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3790" y="7267337"/>
            <a:ext cx="13042821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821656"/>
            <a:ext cx="1067562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EDEDE8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Executando o Python no computador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984063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No Prompt do Comando digite "python". Pronto! Já pode começar a usar!</a:t>
            </a:r>
            <a:endParaRPr lang="en-US" sz="1750" dirty="0"/>
          </a:p>
        </p:txBody>
      </p:sp>
      <p:sp>
        <p:nvSpPr>
          <p:cNvPr id="4" name="Text 2"/>
          <p:cNvSpPr/>
          <p:nvPr/>
        </p:nvSpPr>
        <p:spPr>
          <a:xfrm>
            <a:off x="793790" y="3687128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EDEDE8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 </a:t>
            </a:r>
            <a:endParaRPr lang="en-US" sz="44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4736068"/>
            <a:ext cx="13042821" cy="167175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024539"/>
            <a:ext cx="11672411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EDEDE8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Usando o interpretador Python - IPython</a:t>
            </a:r>
            <a:endParaRPr lang="en-US" sz="4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3186946"/>
            <a:ext cx="13042821" cy="240006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3790" y="5842159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0"/>
            <a:ext cx="3657600" cy="82296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7951" y="2742486"/>
            <a:ext cx="3147179" cy="2744629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93790" y="719376"/>
            <a:ext cx="9385221" cy="1275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000"/>
              </a:lnSpc>
              <a:buNone/>
            </a:pPr>
            <a:r>
              <a:rPr lang="en-US" sz="4000" dirty="0">
                <a:solidFill>
                  <a:srgbClr val="EDEDE8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Ambientes Integrados de Desenvolvimento - IDEs</a:t>
            </a: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793790" y="2301359"/>
            <a:ext cx="9385221" cy="653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Ferramentas que combinam editor de código, depurador e outros recursos para desenvolvimento eficiente.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793790" y="3026212"/>
            <a:ext cx="9385221" cy="326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Projetadas para facilitar a codificação, depuração e execução de projetos.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793790" y="3659029"/>
            <a:ext cx="3717608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EDEDE8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IDEs Populares para Python</a:t>
            </a:r>
            <a:endParaRPr lang="en-US" sz="2000" dirty="0"/>
          </a:p>
        </p:txBody>
      </p:sp>
      <p:sp>
        <p:nvSpPr>
          <p:cNvPr id="8" name="Text 4"/>
          <p:cNvSpPr/>
          <p:nvPr/>
        </p:nvSpPr>
        <p:spPr>
          <a:xfrm>
            <a:off x="793790" y="4283988"/>
            <a:ext cx="9385221" cy="653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b="1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PyCharm</a:t>
            </a:r>
            <a:r>
              <a:rPr lang="en-US" sz="16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: Suporte avançado para grandes projetos, recursos de análise de código e ferramentas de depuração.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793790" y="5008840"/>
            <a:ext cx="9385221" cy="653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b="1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Visual Studio Code</a:t>
            </a:r>
            <a:r>
              <a:rPr lang="en-US" sz="16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: Flexível e leve, com extensões como Python para um ambiente altamente personalizável.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793790" y="5733693"/>
            <a:ext cx="9385221" cy="653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b="1" dirty="0">
                <a:solidFill>
                  <a:srgbClr val="FFA44F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Jupyter Notebook</a:t>
            </a:r>
            <a:r>
              <a:rPr lang="en-US" sz="16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: Excelente para ciência de dados, oferecendo integração com gráficos e células interativas.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93790" y="6458545"/>
            <a:ext cx="9385221" cy="653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b="1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Goolge Colab</a:t>
            </a:r>
            <a:r>
              <a:rPr lang="en-US" sz="16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:  Plataforma baseada em nuvem, ideal para executar código sem instalação local, com recursos integrados para aprendizado de máquina e compartilhamento.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93790" y="7183398"/>
            <a:ext cx="9385221" cy="326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b="1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Spyder</a:t>
            </a:r>
            <a:r>
              <a:rPr lang="en-US" sz="160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: Ideal para computação científica, com foco em ferramentas como NumPy e Pandas.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1526" y="614005"/>
            <a:ext cx="3628787" cy="453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550"/>
              </a:lnSpc>
              <a:buNone/>
            </a:pPr>
            <a:r>
              <a:rPr lang="en-US" sz="2850" dirty="0">
                <a:solidFill>
                  <a:srgbClr val="EDEDE8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Jupyter Lab</a:t>
            </a:r>
            <a:endParaRPr lang="en-US" sz="28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526" y="1357908"/>
            <a:ext cx="8493681" cy="59664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81526" y="7487603"/>
            <a:ext cx="13067348" cy="232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9FEE9-79B4-231D-35C6-983DA6BF0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683E06D-26AF-48D8-FFDC-3BBCFF2E2950}"/>
              </a:ext>
            </a:extLst>
          </p:cNvPr>
          <p:cNvSpPr/>
          <p:nvPr/>
        </p:nvSpPr>
        <p:spPr>
          <a:xfrm>
            <a:off x="793790" y="1821656"/>
            <a:ext cx="1067562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 err="1">
                <a:solidFill>
                  <a:srgbClr val="EDEDE8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Recursos</a:t>
            </a:r>
            <a:r>
              <a:rPr lang="en-US" sz="4450" dirty="0">
                <a:solidFill>
                  <a:srgbClr val="EDEDE8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 da </a:t>
            </a:r>
            <a:r>
              <a:rPr lang="en-US" sz="4450" dirty="0" err="1">
                <a:solidFill>
                  <a:srgbClr val="EDEDE8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Disciplina</a:t>
            </a:r>
            <a:endParaRPr lang="en-US" sz="445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9386E96-9096-771F-A482-9DFD5A38D9DE}"/>
              </a:ext>
            </a:extLst>
          </p:cNvPr>
          <p:cNvSpPr/>
          <p:nvPr/>
        </p:nvSpPr>
        <p:spPr>
          <a:xfrm>
            <a:off x="793791" y="2984063"/>
            <a:ext cx="420195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 err="1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Github</a:t>
            </a: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 - </a:t>
            </a: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  <a:hlinkClick r:id="rId3"/>
              </a:rPr>
              <a:t>https://github.com/reurysson</a:t>
            </a:r>
            <a:endParaRPr lang="en-US" sz="1750" dirty="0">
              <a:solidFill>
                <a:srgbClr val="C9C9C0"/>
              </a:solidFill>
              <a:latin typeface="Tomorrow" pitchFamily="34" charset="0"/>
              <a:ea typeface="Tomorrow" pitchFamily="34" charset="-122"/>
              <a:cs typeface="Tomorrow" pitchFamily="34" charset="-120"/>
            </a:endParaRPr>
          </a:p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</a:rPr>
              <a:t>x</a:t>
            </a:r>
            <a:endParaRPr lang="en-US" sz="17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575A78C-15A1-1DF5-993B-FC3FF7165656}"/>
              </a:ext>
            </a:extLst>
          </p:cNvPr>
          <p:cNvSpPr/>
          <p:nvPr/>
        </p:nvSpPr>
        <p:spPr>
          <a:xfrm>
            <a:off x="793790" y="3687128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EDEDE8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 </a:t>
            </a:r>
            <a:endParaRPr lang="en-US" sz="445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E29F9AB6-18A8-D609-50AE-803FD4BD4744}"/>
              </a:ext>
            </a:extLst>
          </p:cNvPr>
          <p:cNvSpPr/>
          <p:nvPr/>
        </p:nvSpPr>
        <p:spPr>
          <a:xfrm>
            <a:off x="8075536" y="3007425"/>
            <a:ext cx="522787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Open Science Framework - </a:t>
            </a: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  <a:hlinkClick r:id="rId4"/>
              </a:rPr>
              <a:t>https://osf.io/8j6ng/</a:t>
            </a:r>
            <a:r>
              <a:rPr lang="en-US" sz="1750" dirty="0">
                <a:solidFill>
                  <a:srgbClr val="C9C9C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 </a:t>
            </a:r>
          </a:p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9C9C0"/>
                </a:solidFill>
                <a:latin typeface="Tomorrow" pitchFamily="34" charset="0"/>
              </a:rPr>
              <a:t>x</a:t>
            </a:r>
            <a:endParaRPr lang="en-US" sz="175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68DDD16B-1837-AF6D-8821-EC9735998E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6022" y="3687128"/>
            <a:ext cx="4999263" cy="3155924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340C8378-DDB7-AB09-7827-281E1C1E29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107" y="3899875"/>
            <a:ext cx="6266697" cy="306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3103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1282</Words>
  <Application>Microsoft Office PowerPoint</Application>
  <PresentationFormat>Personalizar</PresentationFormat>
  <Paragraphs>155</Paragraphs>
  <Slides>19</Slides>
  <Notes>19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19</vt:i4>
      </vt:variant>
    </vt:vector>
  </HeadingPairs>
  <TitlesOfParts>
    <vt:vector size="24" baseType="lpstr">
      <vt:lpstr>Tomorrow</vt:lpstr>
      <vt:lpstr>Tomorrow Bold</vt:lpstr>
      <vt:lpstr>Arial</vt:lpstr>
      <vt:lpstr>Tomorrow Semi 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Reurysson Chagas de Sousa Morais</cp:lastModifiedBy>
  <cp:revision>1</cp:revision>
  <dcterms:created xsi:type="dcterms:W3CDTF">2025-03-21T14:50:36Z</dcterms:created>
  <dcterms:modified xsi:type="dcterms:W3CDTF">2025-03-21T15:43:36Z</dcterms:modified>
</cp:coreProperties>
</file>